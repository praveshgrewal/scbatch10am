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3ECA">
              <a:alpha val="40000"/>
            </a:srgbClr>
          </a:solidFill>
          <a:ln w="12700">
            <a:solidFill>
              <a:srgbClr val="6C3EC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B4A6">
              <a:alpha val="30000"/>
            </a:srgbClr>
          </a:solidFill>
          <a:ln w="12700">
            <a:solidFill>
              <a:srgbClr val="00B4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Databases &amp; SQL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2A358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🗄️ Databases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10896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2A358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108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💻 SQL Basics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10896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2A358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108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Aggregations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310896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2A358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1089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🔍 Filtering &amp; Sorting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 prior coding needed  🌟  Simple words  🌟  Lots of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🗄️  What is a Database?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0D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ECA"/>
                </a:solidFill>
              </a:rPr>
              <a:t>📦  Think of it like…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0EAFB"/>
          </a:solidFill>
          <a:ln w="12700">
            <a:solidFill>
              <a:srgbClr val="D5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📚  Library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</a:rPr>
              <a:t>Books = Data, Shelves = 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0EAFB"/>
          </a:solidFill>
          <a:ln w="12700">
            <a:solidFill>
              <a:srgbClr val="D5C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📋  Spreadsheet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</a:rPr>
              <a:t>But way more powerful!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64992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0EAFB"/>
          </a:solidFill>
          <a:ln w="12700">
            <a:solidFill>
              <a:srgbClr val="D5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🗂️  Filing Cabinet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</a:rPr>
              <a:t>Organised folders of info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4206240" cy="33375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✅  Why Use a Database?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9160" y="1664208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6276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Store thousands of records safely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231136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194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Find any data in seconds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798064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7614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Avoid duplicate info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364992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3284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Multiple people can use it together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931920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89534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Great for data analysis!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💡  FUN FACT: YouTube, Instagram, and Spotify all use huge databases!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📊  Relational Databases: Tables, Rows &amp; Columns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097280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📋 Table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Like a spreadsheet tab. Holds one type of data (e.g. Students)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43200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➡️ Row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One single record — e.g. one student's full info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743200" cy="10972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⬇️ Column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One type of info — e.g. Name, Age, Grade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</a:rPr>
              <a:t>🔍  Example: Students Table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5029200" cy="164592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StudentID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Aanya Singh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Rohan Mehta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B+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Priya Joshi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A+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23560" y="2697480"/>
            <a:ext cx="3154680" cy="1645920"/>
          </a:xfrm>
          <a:prstGeom prst="rect">
            <a:avLst/>
          </a:prstGeom>
          <a:solidFill>
            <a:srgbClr val="F0EAFB"/>
          </a:solidFill>
          <a:ln w="25400">
            <a:solidFill>
              <a:srgbClr val="D5C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7889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5E"/>
                </a:solidFill>
              </a:rPr>
              <a:t>Each row = 1 student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5E"/>
                </a:solidFill>
              </a:rPr>
              <a:t>Each column = 1 type of info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5E"/>
                </a:solidFill>
              </a:rPr>
              <a:t>All stored in ONE table!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Relational = Tables can be LINKED together using a common column (like StudentID)!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💻  Introduction to 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SQL = Structured Query Language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It's how we TALK to databases — we ask questions, and the database answers!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2A2F6A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208483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848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SELECT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08483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Get / read data from a 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2A2F6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86207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8620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INSERT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86207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Add new rows of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2A2F6A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363931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393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UPDATE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63931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Change existing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2A2F6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9472" y="208483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0848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DELETE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08483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Remove data from a table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2A2F6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9472" y="2862072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8620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CREATE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286207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Make brand new tables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🗣️  SQL is almost like English — easy to read, write and understand!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🛢️  Popular Database Systems (RDBMS)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A"/>
                </a:solidFill>
              </a:rPr>
              <a:t>RDBMS = Relational Database Management System — the software that runs your database!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2971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🐬  MySQL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Best for: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Web apps &amp; blogs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</a:rPr>
              <a:t>Popular for beginners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999232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0EAFB"/>
          </a:solidFill>
          <a:ln w="12700">
            <a:solidFill>
              <a:srgbClr val="D5C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992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3ECA"/>
                </a:solidFill>
              </a:rPr>
              <a:t>💡 Powers WordPress &amp; Facebook!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39312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39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⭐ Best for Class!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463040"/>
            <a:ext cx="2743200" cy="2971800"/>
          </a:xfrm>
          <a:prstGeom prst="rect">
            <a:avLst/>
          </a:prstGeom>
          <a:solidFill>
            <a:srgbClr val="FFFFFF"/>
          </a:solidFill>
          <a:ln w="31750">
            <a:solidFill>
              <a:srgbClr val="6C3E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63040"/>
            <a:ext cx="2743200" cy="502920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🐘  PostgreSQL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Best for: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Complex projects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</a:rPr>
              <a:t>Advanced features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999232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0EAFB"/>
          </a:solidFill>
          <a:ln w="12700">
            <a:solidFill>
              <a:srgbClr val="D5C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992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3ECA"/>
                </a:solidFill>
              </a:rPr>
              <a:t>💡 Free &amp; very powerful!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3639312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639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For Big Projects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463040"/>
            <a:ext cx="2743200" cy="2971800"/>
          </a:xfrm>
          <a:prstGeom prst="rect">
            <a:avLst/>
          </a:prstGeom>
          <a:solidFill>
            <a:srgbClr val="FFFFFF"/>
          </a:solidFill>
          <a:ln w="317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463040"/>
            <a:ext cx="274320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🪶  SQLite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0936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Best for: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Mobile &amp; small apps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</a:rPr>
              <a:t>Super lightweight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999232"/>
            <a:ext cx="2560320" cy="530352"/>
          </a:xfrm>
          <a:prstGeom prst="roundRect">
            <a:avLst>
              <a:gd name="adj" fmla="val 12069"/>
            </a:avLst>
          </a:prstGeom>
          <a:solidFill>
            <a:srgbClr val="F0EAFB"/>
          </a:solidFill>
          <a:ln w="12700">
            <a:solidFill>
              <a:srgbClr val="D5C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992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3ECA"/>
                </a:solidFill>
              </a:rPr>
              <a:t>💡 No server setup needed!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3639312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639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</a:rPr>
              <a:t>🚀 Quick Start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🔧  We'll use MySQL + MySQL Workbench — it has a nice visual interface, perfect for beginners!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🔧  Setting Up MySQL &amp; MySQL Workbench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6C3E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5E"/>
                </a:solidFill>
              </a:rPr>
              <a:t>Download MySQL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Go to mysql.com/downloads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Choose MySQL Community Server — it's FREE!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1480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594360" cy="59436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5E"/>
                </a:solidFill>
              </a:rPr>
              <a:t>Install MySQL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Run the installer &amp; choose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'Developer Default'. It sets everything up!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5E"/>
                </a:solidFill>
              </a:rPr>
              <a:t>Get MySQL Workbench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Workbench is a visual tool — like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control panel for your database!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11480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017520"/>
            <a:ext cx="594360" cy="5943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5E"/>
                </a:solidFill>
              </a:rPr>
              <a:t>Connect &amp; Start!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34290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Open Workbench → click connection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→ New SQL file → write your first query!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💡  MySQL Workbench lets you write SQL and see your results instantly!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</a:rPr>
              <a:t>🔍  SELECT, FROM &amp; WHERE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E2A5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🗣️  Think of SQL like asking: "Show me the NAMES of all STUDENTS who are in GRADE 10"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2743200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5E"/>
                </a:solidFill>
              </a:rPr>
              <a:t>SELECT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743200" cy="548640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What do you want to see?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69748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1E3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645920"/>
            <a:ext cx="274320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5E"/>
                </a:solidFill>
              </a:rPr>
              <a:t>FROM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743200" cy="548640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Which table to look in?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69748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1E3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697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1645920"/>
            <a:ext cx="274320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5E"/>
                </a:solidFill>
              </a:rPr>
              <a:t>WHERE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72200" y="2103120"/>
            <a:ext cx="2743200" cy="548640"/>
          </a:xfrm>
          <a:prstGeom prst="rect">
            <a:avLst/>
          </a:prstGeom>
          <a:solidFill>
            <a:srgbClr val="1E2A5E"/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Which rows to filter?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69748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1E3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697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grade = 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📝  Full SQL Example: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E1E3F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3931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8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age  </a:t>
            </a:r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8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 </a:t>
            </a:r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8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10;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A6"/>
                </a:solidFill>
              </a:rPr>
              <a:t>👆  This gets the name &amp; age of every Grade 10 student!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⚙️  Operators, ORDER BY &amp; NULL Values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</a:rPr>
              <a:t>🔢  Comparison Operators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114800" cy="23317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=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Equals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age = 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Greater than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age &gt; 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&lt;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Less than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score &lt; 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&gt;=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Greater or equal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grade &gt;= 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!=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Not equal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city != 'Delhi'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5E"/>
                </a:solidFill>
              </a:rPr>
              <a:t>🔗  Logical: AND / OR / NOT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206240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E1E3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062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D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age &gt; 10 AND grade = 'A'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0" y="987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</a:rPr>
              <a:t>🔤  ORDER BY — Sort Results!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114800" cy="12344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4630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score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</a:t>
            </a:r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74320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0EAFB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743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3ECA"/>
                </a:solidFill>
              </a:rPr>
              <a:t>ASC = smallest → biggest  |  DESC = biggest → smallest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3337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</a:rPr>
              <a:t>❓  What is NULL?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3721608"/>
            <a:ext cx="4114800" cy="475488"/>
          </a:xfrm>
          <a:prstGeom prst="rect">
            <a:avLst/>
          </a:prstGeom>
          <a:solidFill>
            <a:srgbClr val="FFF4E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7216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5E"/>
                </a:solidFill>
              </a:rPr>
              <a:t>NULL = missing / unknown value. Not zero, not empty — just UNKNOWN!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4315968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1E1E3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43159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ED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phone IS NULL   -- finds missing values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🧮  Aggregation Functions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Special functions that do MATH on your data automatically!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A5E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54480"/>
            <a:ext cx="548640" cy="5486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 all values together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350008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1E1E3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500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SUM(score)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A5E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554480"/>
            <a:ext cx="548640" cy="5486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50208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50208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Find the average 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2350008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1E1E3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3500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AVG(age)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A5E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554480"/>
            <a:ext cx="548640" cy="5486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6288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76288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Count the total 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2350008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1E1E3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3500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3044952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A5E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3182112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41448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441448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Find the smallest value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01368" y="3977640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1E1E3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56232" y="397764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MIN(score)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044952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A5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7448" y="3182112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⬆️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67528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67528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Find the biggest value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27448" y="3977640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1E1E3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97764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MAX(score)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📦  GROUP BY — Summarise by Category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GROUP BY groups rows with the same value — then you can calculate totals, averages etc. per group!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114800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5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4114800" cy="420624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Without GROUP BY — all rows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38528"/>
          <a:ext cx="3200400" cy="23317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Aanya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Maths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Rohan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Science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Aanya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Science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Rohan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Maths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Priya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Maths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444752"/>
            <a:ext cx="4114800" cy="30632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444752"/>
            <a:ext cx="4114800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444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✅  With GROUP BY — summarised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1938528"/>
            <a:ext cx="3840480" cy="1097280"/>
          </a:xfrm>
          <a:prstGeom prst="roundRect">
            <a:avLst>
              <a:gd name="adj" fmla="val 5833"/>
            </a:avLst>
          </a:prstGeom>
          <a:solidFill>
            <a:srgbClr val="1E1E3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93852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subject,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 — one row per subject: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493008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F5E"/>
                          </a:solidFill>
                        </a:rPr>
                        <a:t>Subject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F5E"/>
                          </a:solidFill>
                        </a:rPr>
                        <a:t>COUNT(*)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Maths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Science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645152"/>
            <a:ext cx="84124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GROUP BY collapses many rows into summary rows — great for reports &amp; data analysis!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🔎  HAVING — Filter Your Groups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HAVING is like WHERE — but it filters GROUPS, not individual rows!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77640" cy="3337560"/>
          </a:xfrm>
          <a:prstGeom prst="rect">
            <a:avLst/>
          </a:prstGeom>
          <a:solidFill>
            <a:srgbClr val="182060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3977640" cy="43891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</a:rPr>
              <a:t>WHERE  — filters rows first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" y="1856232"/>
            <a:ext cx="3758184" cy="141732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56232"/>
            <a:ext cx="3575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grade, COUNT(*)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 10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WHERE runs BEFORE grouping.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Only age &gt; 10 rows enter the group.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977640" cy="3337560"/>
          </a:xfrm>
          <a:prstGeom prst="rect">
            <a:avLst/>
          </a:prstGeom>
          <a:solidFill>
            <a:srgbClr val="182060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3977640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258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HAVING  — filters groups after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56048" y="1856232"/>
            <a:ext cx="3758184" cy="141732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1856232"/>
            <a:ext cx="3575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grade, COUNT(*)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pPr indent="0" marL="0">
              <a:buNone/>
            </a:pPr>
            <a:r>
              <a:rPr lang="en-US" sz="13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&gt;= 30;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38328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HAVING runs AFTER grouping.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Only groups with 30+ students show up.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6C3ECA"/>
          </a:solidFill>
          <a:ln w="12700">
            <a:solidFill>
              <a:srgbClr val="6C3E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🔑  WHERE → GROUP BY → HAVING  (always in this order!)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C3ECA">
              <a:alpha val="30000"/>
            </a:srgbClr>
          </a:solidFill>
          <a:ln w="12700">
            <a:solidFill>
              <a:srgbClr val="6C3EC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743200" cy="2743200"/>
          </a:xfrm>
          <a:prstGeom prst="ellipse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</a:rPr>
              <a:t>🎉  What You've Learnt!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051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Organised stores of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9144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95928" y="1051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Tables, Rows &amp; 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95928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Structure of a 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9144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67728" y="1051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Language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7728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How to talk to databases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1031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🛢️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MySQL, PostgreSQL, SQLite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Popular RDBMS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10312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1031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95928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Setting Up MySQL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95928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Install &amp; use Workbench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6C3E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1031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67728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/ FROM / WHERE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67728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Basic querying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2918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24128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Operators &amp; ORDER BY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Filter &amp; sort results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29184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32918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95928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SUM, AVG, COUNT, MIN, MAX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95928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Aggregation functions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29184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1A2460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2918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67728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GROUP BY &amp; HAVING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67728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</a:rPr>
              <a:t>Summarise grouped data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45152"/>
            <a:ext cx="84124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5E"/>
                </a:solidFill>
              </a:rPr>
              <a:t>🌟  You are now ready to write your own SQL queries! Keep practising!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2026-03-15T15:45:20Z</dcterms:created>
  <dcterms:modified xsi:type="dcterms:W3CDTF">2026-03-15T15:45:20Z</dcterms:modified>
</cp:coreProperties>
</file>